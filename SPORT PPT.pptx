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822960"/>
            <a:ext cx="2651760" cy="118872"/>
          </a:xfrm>
          <a:prstGeom prst="rect">
            <a:avLst/>
          </a:prstGeom>
          <a:solidFill>
            <a:srgbClr val="EBB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0" y="1097280"/>
            <a:ext cx="2103120" cy="118872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8046720" cy="113261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rPr dirty="0"/>
              <a:t>SPORTS ANALYTICS</a:t>
            </a:r>
            <a:r>
              <a:rPr lang="en-US" dirty="0"/>
              <a:t> PROJECT PRESENTATION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955279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CDDCEE"/>
                </a:solidFill>
                <a:latin typeface="Aptos"/>
              </a:defRPr>
            </a:pPr>
            <a:r>
              <a:rPr dirty="0"/>
              <a:t>Data cleaning • EDA • Power BI dashboard • MECE insights</a:t>
            </a:r>
          </a:p>
        </p:txBody>
      </p:sp>
      <p:sp>
        <p:nvSpPr>
          <p:cNvPr id="9" name="Oval 8"/>
          <p:cNvSpPr/>
          <p:nvPr/>
        </p:nvSpPr>
        <p:spPr>
          <a:xfrm>
            <a:off x="9235440" y="2743200"/>
            <a:ext cx="1828800" cy="1828800"/>
          </a:xfrm>
          <a:prstGeom prst="ellipse">
            <a:avLst/>
          </a:prstGeom>
          <a:noFill/>
          <a:ln w="6350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86900" y="2994660"/>
            <a:ext cx="1325880" cy="1325880"/>
          </a:xfrm>
          <a:prstGeom prst="ellipse">
            <a:avLst/>
          </a:prstGeom>
          <a:noFill/>
          <a:ln w="63500">
            <a:solidFill>
              <a:srgbClr val="EBB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38360" y="3246120"/>
            <a:ext cx="822960" cy="822960"/>
          </a:xfrm>
          <a:prstGeom prst="ellipse">
            <a:avLst/>
          </a:prstGeom>
          <a:noFill/>
          <a:ln w="63500"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What this deck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Project objective, business questions and dataset structure</a:t>
            </a:r>
          </a:p>
          <a:p>
            <a:pPr>
              <a:spcAft>
                <a:spcPts val="5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Data cleaning and quality checks before analysis</a:t>
            </a:r>
          </a:p>
          <a:p>
            <a:pPr>
              <a:spcAft>
                <a:spcPts val="5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Exploratory Data Analysis (EDA): 18 questions and how to investigate them</a:t>
            </a:r>
          </a:p>
          <a:p>
            <a:pPr>
              <a:spcAft>
                <a:spcPts val="5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Power BI report design: 18 questions, visuals, fields and measures</a:t>
            </a:r>
          </a:p>
          <a:p>
            <a:pPr>
              <a:spcAft>
                <a:spcPts val="5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MECE framework: five mutually exclusive analysis areas</a:t>
            </a:r>
          </a:p>
          <a:p>
            <a:pPr>
              <a:spcAft>
                <a:spcPts val="5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Verified dataset findings, limitations, recommendations and submission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Project objective and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486400" cy="44805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Understand Olympic hosting patterns across years, seasons and cities.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Explore sports, event programmes and changes over time.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Analyse athlete participation, gender, age and regional representation.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Compare medal records by sport, edition and region.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Communicate findings with a multi-page Power BI dashboard and a MECE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2103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0" y="1417320"/>
            <a:ext cx="82296" cy="1325880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1527048"/>
            <a:ext cx="18470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DATA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810512"/>
            <a:ext cx="18470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1896–2016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395728"/>
            <a:ext cx="18470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As present in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417320"/>
            <a:ext cx="2103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5400" y="1417320"/>
            <a:ext cx="82296" cy="132588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79992" y="1527048"/>
            <a:ext cx="18470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FACT TABLE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1810512"/>
            <a:ext cx="18470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268,154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395728"/>
            <a:ext cx="18470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Consolidated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063240"/>
            <a:ext cx="2103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82296" cy="1325880"/>
          </a:xfrm>
          <a:prstGeom prst="rect">
            <a:avLst/>
          </a:prstGeom>
          <a:solidFill>
            <a:srgbClr val="EBB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3172968"/>
            <a:ext cx="18470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UNIQUE ATHLETES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456432"/>
            <a:ext cx="18470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128,854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041648"/>
            <a:ext cx="18470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Distinct person 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063240"/>
            <a:ext cx="2103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3063240"/>
            <a:ext cx="82296" cy="1325880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9992" y="3172968"/>
            <a:ext cx="18470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SPORT NAMES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3456432"/>
            <a:ext cx="18470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4041648"/>
            <a:ext cx="18470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Distinct names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Dataset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File(s)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consolidated_fact.csv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268,154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Ready for initial report pages; 19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games.csv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51 rows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Edition ID, year, game name, season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city.csv / games_city.csv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42 / 52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City dimension and games-to-city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sport.csv / event.csv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66 / 757 rows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Sports and event catalogue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person.csv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128,854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Athlete details: name, gender, height,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games_competitor.csv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180,252 rows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Athlete participation per Games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competitor_event.csv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260,971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Competitor-event and medal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noc_region.csv / person_region.csv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231 / 130,521 rows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NOC-region mapping and athlete-region mapping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medal.csv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Medal lookup, including non-medal/unknown key depending on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Consolidated fact table: important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789920" cy="452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Field(s)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 / usage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game_id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Unique Olympic edition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games_year / game_name / games_season / games_decade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Edition year, name, season and decade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game_city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Host city as recorded in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sport_name / event_name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Sport and event names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games_competitor_id / games_competitor_age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Participation identifier and age at that Games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person_id / person_full_name / person_gender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Athlete identifier, name and gender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person_height / person_weight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Athlete measurements; zero values appear in the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noc / region_id / region_name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NOC and region labels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medal_name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Gold/Silver/Bronze or blank for no medal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640080"/>
            <a:ext cx="2194560" cy="2194560"/>
          </a:xfrm>
          <a:prstGeom prst="ellipse">
            <a:avLst/>
          </a:prstGeom>
          <a:noFill/>
          <a:ln w="5080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920240"/>
            <a:ext cx="1371600" cy="1371600"/>
          </a:xfrm>
          <a:prstGeom prst="ellipse">
            <a:avLst/>
          </a:prstGeom>
          <a:noFill/>
          <a:ln w="50800">
            <a:solidFill>
              <a:srgbClr val="EBB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3017520"/>
            <a:ext cx="2743200" cy="2743200"/>
          </a:xfrm>
          <a:prstGeom prst="ellipse">
            <a:avLst/>
          </a:prstGeom>
          <a:noFill/>
          <a:ln w="50800"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498079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DATA CLEANING &amp;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71323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DDCEE"/>
                </a:solidFill>
                <a:latin typeface="Aptos"/>
              </a:defRPr>
            </a:pPr>
            <a:r>
              <a:t>Prepare consistent, trustworthy data before building charts.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CDDCEE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Data cleaning — import and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1. Extract the ZIP into a folder you can find again.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2. Power BI Desktop → Home → Get data → Text/CSV.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3. Load consolidated_fact.csv first; choose Transform Data rather than immediately loading.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4. In Power Query, confirm the first row is used as headers.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5. Set data types: years/IDs as whole numbers where appropriate; height, weight and age as numeric; text fields as Text.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6. Rename columns only if necessary; keep a note of the original names for DAX formulas.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7. Apply changes and save a copy of the PBIX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rPr dirty="0"/>
              <a:t>Data quality checks found in the supplied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4231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2296" cy="132588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35607"/>
            <a:ext cx="216712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FACT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19072"/>
            <a:ext cx="216712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268,154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04288"/>
            <a:ext cx="216712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Before any optional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25880"/>
            <a:ext cx="24231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325880"/>
            <a:ext cx="82296" cy="1325880"/>
          </a:xfrm>
          <a:prstGeom prst="rect">
            <a:avLst/>
          </a:prstGeom>
          <a:solidFill>
            <a:srgbClr val="E17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0712" y="1435607"/>
            <a:ext cx="216712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EXACT DUPLICATE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719072"/>
            <a:ext cx="216712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1,235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304288"/>
            <a:ext cx="216712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Check before deleting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325880"/>
            <a:ext cx="24231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2160" y="1325880"/>
            <a:ext cx="82296" cy="13258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16752" y="1435607"/>
            <a:ext cx="216712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HEIGHT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1719072"/>
            <a:ext cx="216712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51,748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304288"/>
            <a:ext cx="216712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Likely missing/placeholder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325880"/>
            <a:ext cx="24231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58200" y="1325880"/>
            <a:ext cx="82296" cy="13258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22792" y="1435607"/>
            <a:ext cx="216712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WEIGHT =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1719072"/>
            <a:ext cx="216712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54,432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2304288"/>
            <a:ext cx="216712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Likely missing/placeholder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154680"/>
            <a:ext cx="10789920" cy="24688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227,617 rows have blank medal_name; these are usually non-medal athlete-event records, not necessarily errors.</a:t>
            </a:r>
          </a:p>
          <a:p>
            <a:pPr>
              <a:spcAft>
                <a:spcPts val="5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Three rows have missing age, height or weight values; inspect each column separately.</a:t>
            </a:r>
          </a:p>
          <a:p>
            <a:pPr>
              <a:spcAft>
                <a:spcPts val="5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Do not automatically delete duplicate-looking rows: repeated athlete-event rows can be valid, especially for team sports and multiple events.</a:t>
            </a:r>
          </a:p>
          <a:p>
            <a:pPr>
              <a:spcAft>
                <a:spcPts val="5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Replace height/weight zero with null only if the source documentation or domain logic confirms zero means unknown; document the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Power Query cleaning steps to perform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/ decision rule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Check 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Home → Remove Rows → Remove Duplicates only after confirming the key/grain. Compare row counts before/after.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Handle zero measurements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Select person_height → Replace Values: 0 with null; repeat for person_weight only if justified. Preserve original columns if uncertain.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Check missing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Use column quality/distribution; inspect nulls in age, height, weight and region fields.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Standardise labels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Trim/Clean text; check spelling variants in game_city, sport_name and region_name.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Verify date/year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Set games_year to Whole Number; use numeric sort by games_year rather than alphabetic sort.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Apply and document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Close &amp; Apply; record rows before/after, fields changed, and why each rule was used.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Data model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577840" cy="43891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Begin with consolidated_fact for a simple report and avoid duplicate imports.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If using the normalized tables, use games.id → games_competitor.games_id and person.id → games_competitor.person_id.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Use event.id → competitor_event.event_id; sport.id → event.sport_id.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Use medal.id → competitor_event.medal_id.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Use noc_region.id → person_region.region_id and person.id → person_region.person_id.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Check relationship cardinality and filter direction; avoid ambiguous many-to-many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371600"/>
            <a:ext cx="1828800" cy="640080"/>
          </a:xfrm>
          <a:prstGeom prst="round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527048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games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1828800" cy="640080"/>
          </a:xfrm>
          <a:prstGeom prst="round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81160" y="1527048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games_competitor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743200"/>
            <a:ext cx="1828800" cy="640080"/>
          </a:xfrm>
          <a:prstGeom prst="round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898648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743200"/>
            <a:ext cx="1828800" cy="640080"/>
          </a:xfrm>
          <a:prstGeom prst="round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60" y="2898648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competitor_event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114800"/>
            <a:ext cx="1828800" cy="640080"/>
          </a:xfrm>
          <a:prstGeom prst="round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270248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114800"/>
            <a:ext cx="1828800" cy="640080"/>
          </a:xfrm>
          <a:prstGeom prst="roundRect">
            <a:avLst/>
          </a:prstGeom>
          <a:solidFill>
            <a:srgbClr val="EBB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4270248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medal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58200" y="1691640"/>
            <a:ext cx="777240" cy="0"/>
          </a:xfrm>
          <a:prstGeom prst="line">
            <a:avLst/>
          </a:prstGeom>
          <a:ln w="19050">
            <a:solidFill>
              <a:srgbClr val="697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800" y="2011680"/>
            <a:ext cx="0" cy="731520"/>
          </a:xfrm>
          <a:prstGeom prst="line">
            <a:avLst/>
          </a:prstGeom>
          <a:ln w="19050">
            <a:solidFill>
              <a:srgbClr val="697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49840" y="2011680"/>
            <a:ext cx="0" cy="731520"/>
          </a:xfrm>
          <a:prstGeom prst="line">
            <a:avLst/>
          </a:prstGeom>
          <a:ln w="19050">
            <a:solidFill>
              <a:srgbClr val="697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58200" y="3063240"/>
            <a:ext cx="777240" cy="0"/>
          </a:xfrm>
          <a:prstGeom prst="line">
            <a:avLst/>
          </a:prstGeom>
          <a:ln w="19050">
            <a:solidFill>
              <a:srgbClr val="697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43800" y="3383280"/>
            <a:ext cx="0" cy="731520"/>
          </a:xfrm>
          <a:prstGeom prst="line">
            <a:avLst/>
          </a:prstGeom>
          <a:ln w="19050">
            <a:solidFill>
              <a:srgbClr val="697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49840" y="3383280"/>
            <a:ext cx="0" cy="731520"/>
          </a:xfrm>
          <a:prstGeom prst="line">
            <a:avLst/>
          </a:prstGeom>
          <a:ln w="19050">
            <a:solidFill>
              <a:srgbClr val="697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640080"/>
            <a:ext cx="2194560" cy="2194560"/>
          </a:xfrm>
          <a:prstGeom prst="ellipse">
            <a:avLst/>
          </a:prstGeom>
          <a:noFill/>
          <a:ln w="5080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920240"/>
            <a:ext cx="1371600" cy="1371600"/>
          </a:xfrm>
          <a:prstGeom prst="ellipse">
            <a:avLst/>
          </a:prstGeom>
          <a:noFill/>
          <a:ln w="50800">
            <a:solidFill>
              <a:srgbClr val="EBB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3017520"/>
            <a:ext cx="2743200" cy="2743200"/>
          </a:xfrm>
          <a:prstGeom prst="ellipse">
            <a:avLst/>
          </a:prstGeom>
          <a:noFill/>
          <a:ln w="50800"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498079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71323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DDCEE"/>
                </a:solidFill>
                <a:latin typeface="Aptos"/>
              </a:defRPr>
            </a:pPr>
            <a:r>
              <a:t>Use SQL, Excel or Power BI to investigate the 18 EDA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CDDCE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EDA questions 1–6: Games, hosting and 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EDA question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Recommended analysis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Hosting frequency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Group games by year, decade, season and city; inspect gaps and interruptions.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2. Duration of Olympic Games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Requires start/end dates or duration field. If absent, supplement with trusted historical dates; year alone cannot measure duration.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3. Notable events/occurrences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Identify editions with unusual participation/event/medal changes; validate context externally.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 Emerging sports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Compare sports present in recent editions with earlier editions; verify official introduction year.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5. Sport popularity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Trend competitor participation by sport and year.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6. Region/culture-specific sports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Compare sport participation and event availability by region; avoid assuming culture causes participation.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EDA questions 7–12: Events, athletes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EDA question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Recommended analysis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7. Gender differences in event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Use event-level gender/category field; athlete gender is not the event category.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8. New events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Compare event instances by edition; confirm official programme additions with historical sources.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9. Discontinued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Find event names present earlier but absent later; validate temporary omissions vs true discontinuation.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10. Height/weight trends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Summarise height/weight by sport, gender, age and year; treat zero values as potential missing data.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11. Dominant countries/regions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Rank regions by medal records and participation, overall and by sport.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12. Factors behind success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Explore resources, host advantage, population or funding only with extra datasets; Olympic records alone cannot prove causes.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EDA questions 13–18: Countries and regional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EDA question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Recommended analysis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13. Consistently strong countries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Build region-by-year medal trends; compare consistency, not only lifetime totals.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14. Regional medalists by sport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Group medal records by region_name and sport_name.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15. Unexpected medal 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Find first medals or unusual results, then validate historical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16. Regional participation growth/decline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Count distinct person_id or NOC by edition; compare changes over time.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17. Cultural/geographic influences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Treat as hypotheses; add geography/culture data and avoid causal claims from medals alone.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18. Regional impact on medals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Compare medal share by region and sport; distinguish absolute counts from percentage share.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EDA workflow: how to conduct and document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3891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1. Define the metric: athlete, participation, event instance, medal record, region or Olympic edition.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2. Select the correct grouping fields: year, season, sport, event, gender or region.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3. Calculate totals, distinct counts, averages, percentages or year-over-year change.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4. Sort and compare results; inspect outliers and unexpected jumps.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5. Validate the pattern against source fields and, where needed, trusted historical references.</a:t>
            </a:r>
          </a:p>
          <a:p>
            <a:pPr>
              <a:spcAft>
                <a:spcPts val="5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6. Write a concise finding: observation + evidence + interpretation + limitation.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640080"/>
            <a:ext cx="2194560" cy="2194560"/>
          </a:xfrm>
          <a:prstGeom prst="ellipse">
            <a:avLst/>
          </a:prstGeom>
          <a:noFill/>
          <a:ln w="5080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920240"/>
            <a:ext cx="1371600" cy="1371600"/>
          </a:xfrm>
          <a:prstGeom prst="ellipse">
            <a:avLst/>
          </a:prstGeom>
          <a:noFill/>
          <a:ln w="50800">
            <a:solidFill>
              <a:srgbClr val="EBB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3017520"/>
            <a:ext cx="2743200" cy="2743200"/>
          </a:xfrm>
          <a:prstGeom prst="ellipse">
            <a:avLst/>
          </a:prstGeom>
          <a:noFill/>
          <a:ln w="50800"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498079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71323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DDCEE"/>
                </a:solidFill>
                <a:latin typeface="Aptos"/>
              </a:defRPr>
            </a:pPr>
            <a:r>
              <a:t>Five report pages to answer all 18 Power BI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54864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A0BE"/>
                </a:solidFill>
                <a:latin typeface="Aptos"/>
              </a:defRPr>
            </a:pPr>
            <a:r>
              <a:t>OLYMPIC GAMES SPORTS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CDDCEE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Power BI page 1 — Olympic Games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Questions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0972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Fields / setup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Games by season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Clustered column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games_season; Values: DISTINCTCOUNT(game_id)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2. Games by decade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Column chart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games_decade; Values: DISTINCTCOUNT(game_id); sort decade ascending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3. Cities hosting most Games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Horizontal bar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game_city; Values: DISTINCTCOUNT(game_id); sort descending / Top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577840"/>
            <a:ext cx="22860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5577840"/>
            <a:ext cx="82296" cy="777240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" y="5687568"/>
            <a:ext cx="202996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rPr dirty="0"/>
              <a:t>SUMMER EDITIONS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5042917"/>
            <a:ext cx="202996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rPr dirty="0"/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6007607"/>
            <a:ext cx="202996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Distinct game 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577840"/>
            <a:ext cx="22860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5577840"/>
            <a:ext cx="82296" cy="777240"/>
          </a:xfrm>
          <a:prstGeom prst="rect">
            <a:avLst/>
          </a:prstGeom>
          <a:solidFill>
            <a:srgbClr val="EBB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5687568"/>
            <a:ext cx="202996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WINTER EDITIONS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5868" y="4878324"/>
            <a:ext cx="202996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rPr dirty="0"/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6007607"/>
            <a:ext cx="202996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Distinct game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5577840"/>
            <a:ext cx="22860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5040" y="5577840"/>
            <a:ext cx="82296" cy="77724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9631" y="5687568"/>
            <a:ext cx="202996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TOTAL EDITIONS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74920"/>
            <a:ext cx="202996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rPr dirty="0"/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6007607"/>
            <a:ext cx="202996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Includes 1906 record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Power BI page 2 — Sports &amp;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Questions 4–9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687941"/>
              </p:ext>
            </p:extLst>
          </p:nvPr>
        </p:nvGraphicFramePr>
        <p:xfrm>
          <a:off x="475488" y="118872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1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58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Fields / setup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 Sports by Summer/Winter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Stacked column /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games_season; Values: distinct sport_name; optional legend sport_name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5. Sports with most events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Horizontal bar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sport_name; Values: distinct event_name; Top 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6. Participation by sport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Line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X: games_year; Y: distinct games_competitor_id; Legend: sport_name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7. Events in each sport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Horizontal bar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sport_name; Values: Total Event Instances measure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8. Events by gender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Bar/donut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Requires event gender category (Men/Women/Mixed); person_gender alone is not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5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9. Event count over time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Line chart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dirty="0"/>
                        <a:t>X: </a:t>
                      </a:r>
                      <a:r>
                        <a:rPr dirty="0" err="1"/>
                        <a:t>games_year</a:t>
                      </a:r>
                      <a:r>
                        <a:rPr dirty="0"/>
                        <a:t>; Y: Total Event Instances; split/filter by season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Power BI page 3 — Athletes &amp;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Questions 10–12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Fields / setup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10. Participants by gender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Donut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Legend: person_gender; Values: distinct person_id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11. Countries/regions with most participants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Horizontal bar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region_name; Values: distinct person_id; Top 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12. Age distribution across Games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Column/line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X: games_year; Y: average games_competitor_age; filter blanks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Power BI page 4 — Medal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Questions 13–15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0972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Fields / setup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13. Medals by Olympics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Column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X: games_year or game_name; Y: Total Medal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14. Top gold medal regions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Horizontal bar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region_name; Values: Gold Medal Records; Top 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15. Medal distribution by 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Stacked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sport_name; Values: Total Medal Records; Legend: medal_name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Power BI page 5 — Global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Questions 16–18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0972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Fields / setup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16. Regions/NOCs by Games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Line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X: games_year; Y: distinct region_name or distinct noc (depending on question)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17. Regions with most participants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Horizontal bar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region_name; Values: distinct person_id; Top 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18. Medals by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Stacked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Axis: region_name; Values: Total Medal Records; Legend: medal_name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rPr dirty="0"/>
              <a:t>DAX measures to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Modeling → New measure; check column names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348472" cy="535172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Total Olympic Editions =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DISTINCTCOUNT(</a:t>
            </a:r>
            <a:r>
              <a:rPr sz="900" dirty="0" err="1"/>
              <a:t>consolidated_fact</a:t>
            </a:r>
            <a:r>
              <a:rPr sz="900" dirty="0"/>
              <a:t>[</a:t>
            </a:r>
            <a:r>
              <a:rPr sz="900" dirty="0" err="1"/>
              <a:t>game_id</a:t>
            </a:r>
            <a:r>
              <a:rPr sz="900" dirty="0"/>
              <a:t>])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Unique Athletes =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DISTINCTCOUNT(</a:t>
            </a:r>
            <a:r>
              <a:rPr sz="900" dirty="0" err="1"/>
              <a:t>consolidated_fact</a:t>
            </a:r>
            <a:r>
              <a:rPr sz="900" dirty="0"/>
              <a:t>[</a:t>
            </a:r>
            <a:r>
              <a:rPr sz="900" dirty="0" err="1"/>
              <a:t>person_id</a:t>
            </a:r>
            <a:r>
              <a:rPr sz="900" dirty="0"/>
              <a:t>])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Total Participations =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DISTINCTCOUNT(</a:t>
            </a:r>
            <a:r>
              <a:rPr sz="900" dirty="0" err="1"/>
              <a:t>consolidated_fact</a:t>
            </a:r>
            <a:r>
              <a:rPr sz="900" dirty="0"/>
              <a:t>[</a:t>
            </a:r>
            <a:r>
              <a:rPr sz="900" dirty="0" err="1"/>
              <a:t>games_competitor_id</a:t>
            </a:r>
            <a:r>
              <a:rPr sz="900" dirty="0"/>
              <a:t>])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Total Sports =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DISTINCTCOUNT(</a:t>
            </a:r>
            <a:r>
              <a:rPr sz="900" dirty="0" err="1"/>
              <a:t>consolidated_fact</a:t>
            </a:r>
            <a:r>
              <a:rPr sz="900" dirty="0"/>
              <a:t>[</a:t>
            </a:r>
            <a:r>
              <a:rPr sz="900" dirty="0" err="1"/>
              <a:t>sport_name</a:t>
            </a:r>
            <a:r>
              <a:rPr sz="900" dirty="0"/>
              <a:t>])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Total Medal Records =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CALCULATE(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    COUNTROWS(</a:t>
            </a:r>
            <a:r>
              <a:rPr sz="900" dirty="0" err="1"/>
              <a:t>consolidated_fact</a:t>
            </a:r>
            <a:r>
              <a:rPr sz="900" dirty="0"/>
              <a:t>),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    NOT ISBLANK(</a:t>
            </a:r>
            <a:r>
              <a:rPr sz="900" dirty="0" err="1"/>
              <a:t>consolidated_fact</a:t>
            </a:r>
            <a:r>
              <a:rPr sz="900" dirty="0"/>
              <a:t>[</a:t>
            </a:r>
            <a:r>
              <a:rPr sz="900" dirty="0" err="1"/>
              <a:t>medal_name</a:t>
            </a:r>
            <a:r>
              <a:rPr sz="900" dirty="0"/>
              <a:t>])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)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Gold Medal Records =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CALCULATE(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    COUNTROWS(</a:t>
            </a:r>
            <a:r>
              <a:rPr sz="900" dirty="0" err="1"/>
              <a:t>consolidated_fact</a:t>
            </a:r>
            <a:r>
              <a:rPr sz="900" dirty="0"/>
              <a:t>),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consolidated_fact</a:t>
            </a:r>
            <a:r>
              <a:rPr sz="900" dirty="0"/>
              <a:t>[</a:t>
            </a:r>
            <a:r>
              <a:rPr sz="900" dirty="0" err="1"/>
              <a:t>medal_name</a:t>
            </a:r>
            <a:r>
              <a:rPr sz="900" dirty="0"/>
              <a:t>] = "Gold"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)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Total Event Instances =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Consolas"/>
              </a:defRPr>
            </a:pPr>
            <a:r>
              <a:rPr sz="900" dirty="0"/>
              <a:t>DISTINCTCOUNT(</a:t>
            </a:r>
            <a:r>
              <a:rPr sz="900" dirty="0" err="1"/>
              <a:t>consolidated_fact</a:t>
            </a:r>
            <a:r>
              <a:rPr sz="900" dirty="0"/>
              <a:t>[Event Instance Key])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3657600" cy="44805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rPr dirty="0"/>
              <a:t>•  Create Event Instance Key as a calculated column: </a:t>
            </a:r>
            <a:r>
              <a:rPr dirty="0" err="1"/>
              <a:t>game_id</a:t>
            </a:r>
            <a:r>
              <a:rPr dirty="0"/>
              <a:t> + </a:t>
            </a:r>
            <a:r>
              <a:rPr dirty="0" err="1"/>
              <a:t>event_name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rPr dirty="0"/>
              <a:t>•  These measures are for the consolidated fact table.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rPr dirty="0"/>
              <a:t>•  Unique Athletes = people across all years, not athlete counts per edition.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rPr dirty="0"/>
              <a:t>•  Medal records are athlete rows, not necessarily physical medals.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rPr dirty="0"/>
              <a:t>•  Use event category data for Men/Women/Mixed event counts.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Verified findings from the uploaded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684"/>
                </a:solidFill>
                <a:latin typeface="Aptos"/>
              </a:defRPr>
            </a:pPr>
            <a:r>
              <a:t>Use these as baseline findings; dashboard filters can change the displayed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5603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82296" cy="1234440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23042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OLYMPIC EDITIONS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27632"/>
            <a:ext cx="23042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23042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29 Summer • 22 Winter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34440"/>
            <a:ext cx="25603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82296" cy="123444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1344168"/>
            <a:ext cx="23042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UNIQUE ATHLETES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627632"/>
            <a:ext cx="23042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128,854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121408"/>
            <a:ext cx="23042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Distinct person_id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234440"/>
            <a:ext cx="25603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234440"/>
            <a:ext cx="82296" cy="1234440"/>
          </a:xfrm>
          <a:prstGeom prst="rect">
            <a:avLst/>
          </a:prstGeom>
          <a:solidFill>
            <a:srgbClr val="EBB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344168"/>
            <a:ext cx="23042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SPORT NAMES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627632"/>
            <a:ext cx="23042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121408"/>
            <a:ext cx="23042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Distinct sport_name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234440"/>
            <a:ext cx="25603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23960" y="1234440"/>
            <a:ext cx="82296" cy="1234440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88552" y="1344168"/>
            <a:ext cx="230428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684"/>
                </a:solidFill>
                <a:latin typeface="Aptos"/>
              </a:defRPr>
            </a:pPr>
            <a:r>
              <a:t>EVENT INSTANCES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1627632"/>
            <a:ext cx="2304287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2444"/>
                </a:solidFill>
                <a:latin typeface="Aptos"/>
              </a:defRPr>
            </a:pPr>
            <a:r>
              <a:t>6,184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121408"/>
            <a:ext cx="2304287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Distinct game_id + event_name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880360"/>
            <a:ext cx="10789920" cy="31089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•  Top host city counts: Athina (3), London (3), Los Angeles (2), Lake Placid (2) Olympic editions.</a:t>
            </a:r>
          </a:p>
          <a:p>
            <a:pPr>
              <a:spcAft>
                <a:spcPts val="5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•  Unique athlete gender mix: 95,225 male (73.9%) and 33,629 female (26.1%).</a:t>
            </a:r>
          </a:p>
          <a:p>
            <a:pPr>
              <a:spcAft>
                <a:spcPts val="5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•  Medal records: Gold 13,725; Silver 13,305; Bronze 13,507.</a:t>
            </a:r>
          </a:p>
          <a:p>
            <a:pPr>
              <a:spcAft>
                <a:spcPts val="5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•  Top Gold-labelled region records: USA (2,533), Soviet Union (1,135), Germany (843).</a:t>
            </a:r>
          </a:p>
          <a:p>
            <a:pPr>
              <a:spcAft>
                <a:spcPts val="5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•  Rows with blank medal_name: 227,617; blanks generally indicate no medal record.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Interpret findings carefully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The dataset spans 1896–2016 and includes the 1906 Games record; clearly state your source-data scope.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City names are historical source labels (e.g., Athina); standardise only with a documented rule.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person_gender is athlete gender, not event gender category.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Distinct event names and event instances are different metrics; use game_id + event_name for edition-specific counting.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Team-event medal records may repeat across team members; avoid calling row counts the exact number of physical medals.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Zero height/weight values are likely placeholders, but confirm the source meaning before replacing them with nulls.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Participation, medal performance and representation are descriptive; they do not prove why a country or sport succeeded.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640080"/>
            <a:ext cx="2194560" cy="2194560"/>
          </a:xfrm>
          <a:prstGeom prst="ellipse">
            <a:avLst/>
          </a:prstGeom>
          <a:noFill/>
          <a:ln w="5080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920240"/>
            <a:ext cx="1371600" cy="1371600"/>
          </a:xfrm>
          <a:prstGeom prst="ellipse">
            <a:avLst/>
          </a:prstGeom>
          <a:noFill/>
          <a:ln w="50800">
            <a:solidFill>
              <a:srgbClr val="EBB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3017520"/>
            <a:ext cx="2743200" cy="2743200"/>
          </a:xfrm>
          <a:prstGeom prst="ellipse">
            <a:avLst/>
          </a:prstGeom>
          <a:noFill/>
          <a:ln w="50800"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498079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MECE ANALYSIS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71323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DDCEE"/>
                </a:solidFill>
                <a:latin typeface="Aptos"/>
              </a:defRPr>
            </a:pPr>
            <a:r>
              <a:t>Five clear, non-overlapping lenses that collectively cover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54864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A0BE"/>
                </a:solidFill>
                <a:latin typeface="Aptos"/>
              </a:defRPr>
            </a:pPr>
            <a:r>
              <a:t>OLYMPIC GAMES SPORTS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CDDCEE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MECE breakdown for the Olympic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270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MECE branch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Included analysis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Games &amp;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Frequency by year/decade; season; host cities; duration where dates are available.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2. Sports &amp; Events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Sport catalogue; event instances; sport popularity; gender-category events; additions/discontinuations.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3. Athletes &amp; Participation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Unique athletes; participation by edition; gender; age; height/weight data quality.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 Medals &amp; Performance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Medal records by edition, region and sport; gold rankings; consistency over time.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5. Global &amp; Regional 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NOCs/regions per edition; participation by region; historical region labels; regional medal share.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44"/>
                </a:solidFill>
                <a:latin typeface="Aptos"/>
              </a:defRPr>
            </a:pPr>
            <a:r>
              <a:t>Short presentation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97684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44805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“My project analyses historical Olympic Games data from 1896 to 2016.”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“I first checked the source tables, data types, duplicate rows, missing values and zero height/weight values.”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“I organised the analysis into five MECE areas: Games &amp; Hosting, Sports &amp; Events, Athletes &amp; Participation, Medals &amp; Performance, and Global &amp; Regional Representation.”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“The Power BI report answers 18 questions using cards, bar charts, column charts, line charts, donut charts and slicers.”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“I interpret counts carefully because athlete participation, event instances and medal records are different metrics.”</a:t>
            </a:r>
          </a:p>
          <a:p>
            <a:pPr>
              <a:spcAft>
                <a:spcPts val="5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“My conclusions are descriptive, and I validate historical claims or causal explanations with additional sources where needed.”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423160"/>
            <a:ext cx="7772400" cy="116339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6600" dirty="0"/>
              <a:t>THANK YOU</a:t>
            </a:r>
          </a:p>
        </p:txBody>
      </p:sp>
      <p:sp>
        <p:nvSpPr>
          <p:cNvPr id="5" name="Oval 4"/>
          <p:cNvSpPr/>
          <p:nvPr/>
        </p:nvSpPr>
        <p:spPr>
          <a:xfrm>
            <a:off x="8961120" y="4114800"/>
            <a:ext cx="685800" cy="685800"/>
          </a:xfrm>
          <a:prstGeom prst="ellipse">
            <a:avLst/>
          </a:prstGeom>
          <a:solidFill>
            <a:srgbClr val="0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38360" y="4114800"/>
            <a:ext cx="685800" cy="685800"/>
          </a:xfrm>
          <a:prstGeom prst="ellipse">
            <a:avLst/>
          </a:prstGeom>
          <a:solidFill>
            <a:srgbClr val="EBB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0" y="4114800"/>
            <a:ext cx="685800" cy="68580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68580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CDDCEE"/>
                </a:solidFill>
                <a:latin typeface="Aptos"/>
              </a:defRPr>
            </a:pPr>
            <a:r>
              <a:t>Prepared from the supplied Olympic Games CSV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2929</Words>
  <Application>Microsoft Office PowerPoint</Application>
  <PresentationFormat>Widescreen</PresentationFormat>
  <Paragraphs>391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RushiDeore</dc:creator>
  <cp:keywords/>
  <dc:description>generated using python-pptx</dc:description>
  <cp:lastModifiedBy>Rushi Deore</cp:lastModifiedBy>
  <cp:revision>3</cp:revision>
  <dcterms:created xsi:type="dcterms:W3CDTF">2013-01-27T09:14:16Z</dcterms:created>
  <dcterms:modified xsi:type="dcterms:W3CDTF">2026-10-22T09:55:47Z</dcterms:modified>
  <cp:category/>
</cp:coreProperties>
</file>